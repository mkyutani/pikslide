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Main column, centred on x = 4572000 -->
      <p:sp>
        <p:nvSpPr>
          <p:cNvPr id="2" name="Start"/>
          <p:cNvSpPr/>
          <p:nvPr/>
        </p:nvSpPr>
        <p:spPr>
          <a:xfrm>
            <a:off x="3749040" y="205740"/>
            <a:ext cx="1645920" cy="411480"/>
          </a:xfrm>
          <a:prstGeom prst="ellipse">
            <a:avLst/>
          </a:prstGeom>
          <a:solidFill>
            <a:srgbClr val="E2EFDA"/>
          </a:solidFill>
          <a:ln w="19050">
            <a:solidFill>
              <a:srgbClr val="548235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</a:rPr>
              <a:t>Start</a:t>
            </a:r>
          </a:p>
        </p:txBody>
      </p:sp>
      <p:sp>
        <p:nvSpPr>
          <p:cNvPr id="3" name="i = 1"/>
          <p:cNvSpPr/>
          <p:nvPr/>
        </p:nvSpPr>
        <p:spPr>
          <a:xfrm>
            <a:off x="3749040" y="937260"/>
            <a:ext cx="1645920" cy="411480"/>
          </a:xfrm>
          <a:prstGeom prst="rect">
            <a:avLst/>
          </a:prstGeom>
          <a:solidFill>
            <a:srgbClr val="DDEBF7"/>
          </a:solidFill>
          <a:ln w="19050">
            <a:solidFill>
              <a:srgbClr val="2F5597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</a:rPr>
              <a:t>i = 1</a:t>
            </a:r>
          </a:p>
        </p:txBody>
      </p:sp>
      <p:sp>
        <p:nvSpPr>
          <p:cNvPr id="4" name="i &lt;= 100"/>
          <p:cNvSpPr/>
          <p:nvPr/>
        </p:nvSpPr>
        <p:spPr>
          <a:xfrm>
            <a:off x="3474720" y="1668780"/>
            <a:ext cx="2194560" cy="64008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8F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</a:rPr>
              <a:t>i &lt;= 100</a:t>
            </a:r>
          </a:p>
        </p:txBody>
      </p:sp>
      <p:sp>
        <p:nvSpPr>
          <p:cNvPr id="5" name="i % 15 == 0"/>
          <p:cNvSpPr/>
          <p:nvPr/>
        </p:nvSpPr>
        <p:spPr>
          <a:xfrm>
            <a:off x="3474720" y="2628900"/>
            <a:ext cx="2194560" cy="64008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8F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</a:rPr>
              <a:t>i % 15 == 0</a:t>
            </a:r>
          </a:p>
        </p:txBody>
      </p:sp>
      <p:sp>
        <p:nvSpPr>
          <p:cNvPr id="6" name="i % 3 == 0"/>
          <p:cNvSpPr/>
          <p:nvPr/>
        </p:nvSpPr>
        <p:spPr>
          <a:xfrm>
            <a:off x="3474720" y="3589020"/>
            <a:ext cx="2194560" cy="64008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8F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</a:rPr>
              <a:t>i % 3 == 0</a:t>
            </a:r>
          </a:p>
        </p:txBody>
      </p:sp>
      <p:sp>
        <p:nvSpPr>
          <p:cNvPr id="7" name="i % 5 == 0"/>
          <p:cNvSpPr/>
          <p:nvPr/>
        </p:nvSpPr>
        <p:spPr>
          <a:xfrm>
            <a:off x="3474720" y="4549140"/>
            <a:ext cx="2194560" cy="64008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8F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</a:rPr>
              <a:t>i % 5 == 0</a:t>
            </a:r>
          </a:p>
        </p:txBody>
      </p:sp>
      <p:sp>
        <p:nvSpPr>
          <p:cNvPr id="8" name="print i"/>
          <p:cNvSpPr/>
          <p:nvPr/>
        </p:nvSpPr>
        <p:spPr>
          <a:xfrm>
            <a:off x="3749040" y="5509260"/>
            <a:ext cx="1645920" cy="411480"/>
          </a:xfrm>
          <a:prstGeom prst="parallelogram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</a:rPr>
              <a:t>print i</a:t>
            </a:r>
          </a:p>
        </p:txBody>
      </p:sp>
      <p:sp>
        <p:nvSpPr>
          <p:cNvPr id="9" name="i = i + 1"/>
          <p:cNvSpPr/>
          <p:nvPr/>
        </p:nvSpPr>
        <p:spPr>
          <a:xfrm>
            <a:off x="3749040" y="6240780"/>
            <a:ext cx="1645920" cy="411480"/>
          </a:xfrm>
          <a:prstGeom prst="rect">
            <a:avLst/>
          </a:prstGeom>
          <a:solidFill>
            <a:srgbClr val="DDEBF7"/>
          </a:solidFill>
          <a:ln w="19050">
            <a:solidFill>
              <a:srgbClr val="2F5597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</a:rPr>
              <a:t>i = i + 1</a:t>
            </a:r>
          </a:p>
        </p:txBody>
      </p:sp>
      <!-- Right-hand shapes: End beside i <= 100, one print beside each modulo test -->
      <p:sp>
        <p:nvSpPr>
          <p:cNvPr id="10" name="End"/>
          <p:cNvSpPr/>
          <p:nvPr/>
        </p:nvSpPr>
        <p:spPr>
          <a:xfrm>
            <a:off x="6812280" y="1783080"/>
            <a:ext cx="1645920" cy="411480"/>
          </a:xfrm>
          <a:prstGeom prst="ellipse">
            <a:avLst/>
          </a:prstGeom>
          <a:solidFill>
            <a:srgbClr val="E2EFDA"/>
          </a:solidFill>
          <a:ln w="19050">
            <a:solidFill>
              <a:srgbClr val="548235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</a:rPr>
              <a:t>End</a:t>
            </a:r>
          </a:p>
        </p:txBody>
      </p:sp>
      <p:sp>
        <p:nvSpPr>
          <p:cNvPr id="11" name="print &quot;FizzBuzz&quot;"/>
          <p:cNvSpPr/>
          <p:nvPr/>
        </p:nvSpPr>
        <p:spPr>
          <a:xfrm>
            <a:off x="6583680" y="2743200"/>
            <a:ext cx="2103120" cy="411480"/>
          </a:xfrm>
          <a:prstGeom prst="parallelogram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</a:rPr>
              <a:t>print "FizzBuzz"</a:t>
            </a:r>
          </a:p>
        </p:txBody>
      </p:sp>
      <p:sp>
        <p:nvSpPr>
          <p:cNvPr id="12" name="print &quot;Fizz&quot;"/>
          <p:cNvSpPr/>
          <p:nvPr/>
        </p:nvSpPr>
        <p:spPr>
          <a:xfrm>
            <a:off x="6583680" y="3703320"/>
            <a:ext cx="2103120" cy="411480"/>
          </a:xfrm>
          <a:prstGeom prst="parallelogram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</a:rPr>
              <a:t>print "Fizz"</a:t>
            </a:r>
          </a:p>
        </p:txBody>
      </p:sp>
      <p:sp>
        <p:nvSpPr>
          <p:cNvPr id="13" name="print &quot;Buzz&quot;"/>
          <p:cNvSpPr/>
          <p:nvPr/>
        </p:nvSpPr>
        <p:spPr>
          <a:xfrm>
            <a:off x="6583680" y="4663440"/>
            <a:ext cx="2103120" cy="411480"/>
          </a:xfrm>
          <a:prstGeom prst="parallelogram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1F1F1F"/>
                </a:solidFill>
              </a:rPr>
              <a:t>print "Buzz"</a:t>
            </a:r>
          </a:p>
        </p:txBody>
      </p:sp>
      <!-- Arrows down the main column -->
      <p:cxnSp>
        <p:nvCxnSpPr>
          <p:cNvPr id="20" name="Start to i = 1"/>
          <p:cNvCxnSpPr>
            <a:stCxn id="2" idx="4"/>
            <a:endCxn id="3" idx="0"/>
          </p:cNvCxnSpPr>
          <p:nvPr/>
        </p:nvCxnSpPr>
        <p:spPr>
          <a:xfrm>
            <a:off x="4572000" y="617220"/>
            <a:ext cx="0" cy="32004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1" name="i = 1 to i &lt;= 100"/>
          <p:cNvCxnSpPr>
            <a:stCxn id="3" idx="2"/>
            <a:endCxn id="4" idx="0"/>
          </p:cNvCxnSpPr>
          <p:nvPr/>
        </p:nvCxnSpPr>
        <p:spPr>
          <a:xfrm>
            <a:off x="4572000" y="1348740"/>
            <a:ext cx="0" cy="32004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2" name="i &lt;= 100 yes"/>
          <p:cNvCxnSpPr>
            <a:stCxn id="4" idx="2"/>
            <a:endCxn id="5" idx="0"/>
          </p:cNvCxnSpPr>
          <p:nvPr/>
        </p:nvCxnSpPr>
        <p:spPr>
          <a:xfrm>
            <a:off x="4572000" y="2308860"/>
            <a:ext cx="0" cy="32004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3" name="i % 15 == 0 no"/>
          <p:cNvCxnSpPr>
            <a:stCxn id="5" idx="2"/>
            <a:endCxn id="6" idx="0"/>
          </p:cNvCxnSpPr>
          <p:nvPr/>
        </p:nvCxnSpPr>
        <p:spPr>
          <a:xfrm>
            <a:off x="4572000" y="3268980"/>
            <a:ext cx="0" cy="32004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4" name="i % 3 == 0 no"/>
          <p:cNvCxnSpPr>
            <a:stCxn id="6" idx="2"/>
            <a:endCxn id="7" idx="0"/>
          </p:cNvCxnSpPr>
          <p:nvPr/>
        </p:nvCxnSpPr>
        <p:spPr>
          <a:xfrm>
            <a:off x="4572000" y="4229100"/>
            <a:ext cx="0" cy="32004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5" name="i % 5 == 0 no"/>
          <p:cNvCxnSpPr>
            <a:stCxn id="7" idx="2"/>
            <a:endCxn id="8" idx="0"/>
          </p:cNvCxnSpPr>
          <p:nvPr/>
        </p:nvCxnSpPr>
        <p:spPr>
          <a:xfrm>
            <a:off x="4572000" y="5189220"/>
            <a:ext cx="0" cy="32004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6" name="print i to i = i + 1"/>
          <p:cNvCxnSpPr>
            <a:stCxn id="8" idx="4"/>
            <a:endCxn id="9" idx="0"/>
          </p:cNvCxnSpPr>
          <p:nvPr/>
        </p:nvCxnSpPr>
        <p:spPr>
          <a:xfrm>
            <a:off x="4572000" y="5920740"/>
            <a:ext cx="0" cy="32004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!-- Arrows out to the right -->
      <p:cxnSp>
        <p:nvCxnSpPr>
          <p:cNvPr id="27" name="i &lt;= 100 no"/>
          <p:cNvCxnSpPr>
            <a:stCxn id="4" idx="3"/>
            <a:endCxn id="10" idx="2"/>
          </p:cNvCxnSpPr>
          <p:nvPr/>
        </p:nvCxnSpPr>
        <p:spPr>
          <a:xfrm>
            <a:off x="5669280" y="1988820"/>
            <a:ext cx="1143000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8" name="i % 15 == 0 yes"/>
          <p:cNvCxnSpPr>
            <a:stCxn id="5" idx="3"/>
            <a:endCxn id="11" idx="5"/>
          </p:cNvCxnSpPr>
          <p:nvPr/>
        </p:nvCxnSpPr>
        <p:spPr>
          <a:xfrm>
            <a:off x="5669280" y="2948940"/>
            <a:ext cx="965835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29" name="i % 3 == 0 yes"/>
          <p:cNvCxnSpPr>
            <a:stCxn id="6" idx="3"/>
            <a:endCxn id="12" idx="5"/>
          </p:cNvCxnSpPr>
          <p:nvPr/>
        </p:nvCxnSpPr>
        <p:spPr>
          <a:xfrm>
            <a:off x="5669280" y="3909060"/>
            <a:ext cx="965835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30" name="i % 5 == 0 yes"/>
          <p:cNvCxnSpPr>
            <a:stCxn id="7" idx="3"/>
            <a:endCxn id="13" idx="5"/>
          </p:cNvCxnSpPr>
          <p:nvPr/>
        </p:nvCxnSpPr>
        <p:spPr>
          <a:xfrm>
            <a:off x="5669280" y="4869180"/>
            <a:ext cx="965835" cy="0"/>
          </a:xfrm>
          <a:prstGeom prst="straightConnector1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!-- The prints join one line down the right side (x = 9052567) into i = i + 1 -->
      <p:cxnSp>
        <p:nvCxnSpPr>
          <p:cNvPr id="31" name="print &quot;FizzBuzz&quot; to i = i + 1"/>
          <p:cNvCxnSpPr>
            <a:stCxn id="11" idx="2"/>
            <a:endCxn id="9" idx="3"/>
          </p:cNvCxnSpPr>
          <p:nvPr/>
        </p:nvCxnSpPr>
        <p:spPr>
          <a:xfrm flipH="1">
            <a:off x="5394960" y="2948940"/>
            <a:ext cx="3240405" cy="3497580"/>
          </a:xfrm>
          <a:prstGeom prst="bentConnector3">
            <a:avLst>
              <a:gd name="adj1" fmla="val -12875"/>
            </a:avLst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32" name="print &quot;Fizz&quot; join"/>
          <p:cNvCxnSpPr>
            <a:stCxn id="12" idx="2"/>
          </p:cNvCxnSpPr>
          <p:nvPr/>
        </p:nvCxnSpPr>
        <p:spPr>
          <a:xfrm>
            <a:off x="8635365" y="3909060"/>
            <a:ext cx="417202" cy="0"/>
          </a:xfrm>
          <a:prstGeom prst="straightConnector1">
            <a:avLst/>
          </a:prstGeom>
          <a:ln w="19050">
            <a:solidFill>
              <a:srgbClr val="404040"/>
            </a:solidFill>
          </a:ln>
        </p:spPr>
      </p:cxnSp>
      <p:cxnSp>
        <p:nvCxnSpPr>
          <p:cNvPr id="33" name="print &quot;Buzz&quot; join"/>
          <p:cNvCxnSpPr>
            <a:stCxn id="13" idx="2"/>
          </p:cNvCxnSpPr>
          <p:nvPr/>
        </p:nvCxnSpPr>
        <p:spPr>
          <a:xfrm>
            <a:off x="8635365" y="4869180"/>
            <a:ext cx="417202" cy="0"/>
          </a:xfrm>
          <a:prstGeom prst="straightConnector1">
            <a:avLst/>
          </a:prstGeom>
          <a:ln w="19050">
            <a:solidFill>
              <a:srgbClr val="404040"/>
            </a:solidFill>
          </a:ln>
        </p:spPr>
      </p:cxnSp>
      <!-- Loop back round the left side (x = 3108961) into i <= 100 -->
      <p:cxnSp>
        <p:nvCxnSpPr>
          <p:cNvPr id="34" name="i = i + 1 to i &lt;= 100"/>
          <p:cNvCxnSpPr>
            <a:stCxn id="9" idx="1"/>
            <a:endCxn id="4" idx="1"/>
          </p:cNvCxnSpPr>
          <p:nvPr/>
        </p:nvCxnSpPr>
        <p:spPr>
          <a:xfrm flipH="1" flipV="1">
            <a:off x="3474720" y="1988820"/>
            <a:ext cx="274320" cy="4457700"/>
          </a:xfrm>
          <a:prstGeom prst="bentConnector3">
            <a:avLst>
              <a:gd name="adj1" fmla="val 233333"/>
            </a:avLst>
          </a:prstGeom>
          <a:ln w="19050">
            <a:solidFill>
              <a:srgbClr val="404040"/>
            </a:solidFill>
            <a:tailEnd type="triangle" w="med" len="med"/>
          </a:ln>
        </p:spPr>
      </p:cxnSp>
      <!-- Branch labels: beside the vertical arrows, above the horizontal ones -->
      <p:sp>
        <p:nvSpPr>
          <p:cNvPr id="40" name="Label yes (i &lt;= 100)"/>
          <p:cNvSpPr txBox="1"/>
          <p:nvPr/>
        </p:nvSpPr>
        <p:spPr>
          <a:xfrm>
            <a:off x="4636008" y="2368296"/>
            <a:ext cx="274320" cy="20116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</a:rPr>
              <a:t>yes</a:t>
            </a:r>
          </a:p>
        </p:txBody>
      </p:sp>
      <p:sp>
        <p:nvSpPr>
          <p:cNvPr id="41" name="Label no (i % 15 == 0)"/>
          <p:cNvSpPr txBox="1"/>
          <p:nvPr/>
        </p:nvSpPr>
        <p:spPr>
          <a:xfrm>
            <a:off x="4636008" y="3328416"/>
            <a:ext cx="274320" cy="20116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</a:rPr>
              <a:t>no</a:t>
            </a:r>
          </a:p>
        </p:txBody>
      </p:sp>
      <p:sp>
        <p:nvSpPr>
          <p:cNvPr id="42" name="Label no (i % 3 == 0)"/>
          <p:cNvSpPr txBox="1"/>
          <p:nvPr/>
        </p:nvSpPr>
        <p:spPr>
          <a:xfrm>
            <a:off x="4636008" y="4288536"/>
            <a:ext cx="274320" cy="20116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</a:rPr>
              <a:t>no</a:t>
            </a:r>
          </a:p>
        </p:txBody>
      </p:sp>
      <p:sp>
        <p:nvSpPr>
          <p:cNvPr id="43" name="Label no (i % 5 == 0)"/>
          <p:cNvSpPr txBox="1"/>
          <p:nvPr/>
        </p:nvSpPr>
        <p:spPr>
          <a:xfrm>
            <a:off x="4636008" y="5248656"/>
            <a:ext cx="274320" cy="20116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1200" dirty="0">
                <a:solidFill>
                  <a:srgbClr val="404040"/>
                </a:solidFill>
              </a:rPr>
              <a:t>no</a:t>
            </a:r>
          </a:p>
        </p:txBody>
      </p:sp>
      <p:sp>
        <p:nvSpPr>
          <p:cNvPr id="44" name="Label no (i &lt;= 100)"/>
          <p:cNvSpPr txBox="1"/>
          <p:nvPr/>
        </p:nvSpPr>
        <p:spPr>
          <a:xfrm>
            <a:off x="6103620" y="1751076"/>
            <a:ext cx="274320" cy="20116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404040"/>
                </a:solidFill>
              </a:rPr>
              <a:t>no</a:t>
            </a:r>
          </a:p>
        </p:txBody>
      </p:sp>
      <p:sp>
        <p:nvSpPr>
          <p:cNvPr id="45" name="Label yes (i % 15 == 0)"/>
          <p:cNvSpPr txBox="1"/>
          <p:nvPr/>
        </p:nvSpPr>
        <p:spPr>
          <a:xfrm>
            <a:off x="6015038" y="2711196"/>
            <a:ext cx="274320" cy="20116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404040"/>
                </a:solidFill>
              </a:rPr>
              <a:t>yes</a:t>
            </a:r>
          </a:p>
        </p:txBody>
      </p:sp>
      <p:sp>
        <p:nvSpPr>
          <p:cNvPr id="46" name="Label yes (i % 3 == 0)"/>
          <p:cNvSpPr txBox="1"/>
          <p:nvPr/>
        </p:nvSpPr>
        <p:spPr>
          <a:xfrm>
            <a:off x="6015038" y="3671316"/>
            <a:ext cx="274320" cy="20116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404040"/>
                </a:solidFill>
              </a:rPr>
              <a:t>yes</a:t>
            </a:r>
          </a:p>
        </p:txBody>
      </p:sp>
      <p:sp>
        <p:nvSpPr>
          <p:cNvPr id="47" name="Label yes (i % 5 == 0)"/>
          <p:cNvSpPr txBox="1"/>
          <p:nvPr/>
        </p:nvSpPr>
        <p:spPr>
          <a:xfrm>
            <a:off x="6015038" y="4631436"/>
            <a:ext cx="274320" cy="20116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404040"/>
                </a:solidFill>
              </a:rPr>
              <a:t>yes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FizzBuzz flowchart</dc:title>
  <dcterms:created xsi:type="dcterms:W3CDTF">2026-10-13T00:00:00Z</dcterms:created>
  <dcterms:modified xsi:type="dcterms:W3CDTF">2026-10-13T00:00:00Z</dcterms:modified>
</cp:coreProperties>
</file>