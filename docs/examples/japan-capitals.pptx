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132320" cy="78409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" descr="Map of Jap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6858000" cy="756666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411479" y="411479"/>
            <a:ext cx="360592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b="1" i="0" sz="2400">
                <a:solidFill>
                  <a:srgbClr val="000000"/>
                </a:solidFill>
                <a:latin typeface="+mn-lt"/>
                <a:ea typeface="+mn-ea"/>
              </a:rPr>
              <a:t>How Japan's capital moved</a:t>
            </a:r>
          </a:p>
        </p:txBody>
      </p:sp>
      <p:sp>
        <p:nvSpPr>
          <p:cNvPr id="4" name="Nara"/>
          <p:cNvSpPr/>
          <p:nvPr/>
        </p:nvSpPr>
        <p:spPr>
          <a:xfrm>
            <a:off x="2832354" y="5333238"/>
            <a:ext cx="91440" cy="91440"/>
          </a:xfrm>
          <a:prstGeom prst="ellipse">
            <a:avLst/>
          </a:prstGeom>
          <a:solidFill>
            <a:schemeClr val="accent2"/>
          </a:solidFill>
          <a:ln w="13716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yoto"/>
          <p:cNvSpPr/>
          <p:nvPr/>
        </p:nvSpPr>
        <p:spPr>
          <a:xfrm>
            <a:off x="2818638" y="5177790"/>
            <a:ext cx="91440" cy="91440"/>
          </a:xfrm>
          <a:prstGeom prst="ellipse">
            <a:avLst/>
          </a:prstGeom>
          <a:solidFill>
            <a:schemeClr val="accent2"/>
          </a:solidFill>
          <a:ln w="13716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kyo"/>
          <p:cNvSpPr/>
          <p:nvPr/>
        </p:nvSpPr>
        <p:spPr>
          <a:xfrm>
            <a:off x="4251960" y="4892040"/>
            <a:ext cx="91440" cy="91440"/>
          </a:xfrm>
          <a:prstGeom prst="ellipse">
            <a:avLst/>
          </a:prstGeom>
          <a:solidFill>
            <a:schemeClr val="accent2"/>
          </a:solidFill>
          <a:ln w="13716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row 1"/>
          <p:cNvSpPr/>
          <p:nvPr/>
        </p:nvSpPr>
        <p:spPr>
          <a:xfrm>
            <a:off x="2603754" y="5223510"/>
            <a:ext cx="228600" cy="155448"/>
          </a:xfrm>
          <a:custGeom>
            <a:avLst/>
            <a:gdLst/>
            <a:ahLst/>
            <a:cxnLst/>
            <a:rect l="l" t="t" r="r" b="b"/>
            <a:pathLst>
              <a:path w="228600" h="155448">
                <a:moveTo>
                  <a:pt x="228600" y="155448"/>
                </a:moveTo>
                <a:lnTo>
                  <a:pt x="0" y="155448"/>
                </a:lnTo>
                <a:lnTo>
                  <a:pt x="0" y="0"/>
                </a:lnTo>
                <a:lnTo>
                  <a:pt x="214884" y="0"/>
                </a:lnTo>
              </a:path>
            </a:pathLst>
          </a:custGeom>
          <a:noFill/>
          <a:ln w="20574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arrow 2"/>
          <p:cNvCxnSpPr/>
          <p:nvPr/>
        </p:nvCxnSpPr>
        <p:spPr>
          <a:xfrm flipV="1">
            <a:off x="2909195" y="4946698"/>
            <a:ext cx="1343647" cy="267873"/>
          </a:xfrm>
          <a:prstGeom prst="line">
            <a:avLst/>
          </a:prstGeom>
          <a:ln w="20574">
            <a:solidFill>
              <a:schemeClr val="accent2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ox 1"/>
          <p:cNvSpPr/>
          <p:nvPr/>
        </p:nvSpPr>
        <p:spPr>
          <a:xfrm>
            <a:off x="2614105" y="4674870"/>
            <a:ext cx="500504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189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rgbClr val="000000"/>
                </a:solidFill>
                <a:latin typeface="+mn-lt"/>
                <a:ea typeface="+mn-ea"/>
              </a:rPr>
              <a:t>Kyoto</a:t>
            </a:r>
          </a:p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794</a:t>
            </a:r>
          </a:p>
        </p:txBody>
      </p:sp>
      <p:sp>
        <p:nvSpPr>
          <p:cNvPr id="10" name="box 2"/>
          <p:cNvSpPr/>
          <p:nvPr/>
        </p:nvSpPr>
        <p:spPr>
          <a:xfrm>
            <a:off x="2654648" y="5516118"/>
            <a:ext cx="446851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189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rgbClr val="000000"/>
                </a:solidFill>
                <a:latin typeface="+mn-lt"/>
                <a:ea typeface="+mn-ea"/>
              </a:rPr>
              <a:t>Nara</a:t>
            </a:r>
          </a:p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710</a:t>
            </a:r>
          </a:p>
        </p:txBody>
      </p:sp>
      <p:sp>
        <p:nvSpPr>
          <p:cNvPr id="11" name="box 3"/>
          <p:cNvSpPr/>
          <p:nvPr/>
        </p:nvSpPr>
        <p:spPr>
          <a:xfrm>
            <a:off x="4044451" y="4389120"/>
            <a:ext cx="506457" cy="41147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189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b="1" i="0" sz="1050">
                <a:solidFill>
                  <a:srgbClr val="000000"/>
                </a:solidFill>
                <a:latin typeface="+mn-lt"/>
                <a:ea typeface="+mn-ea"/>
              </a:rPr>
              <a:t>Tokyo</a:t>
            </a:r>
          </a:p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1869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