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92240" cy="26517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LM"/>
          <p:cNvSpPr/>
          <p:nvPr/>
        </p:nvSpPr>
        <p:spPr>
          <a:xfrm>
            <a:off x="137160" y="594360"/>
            <a:ext cx="1097280" cy="502920"/>
          </a:xfrm>
          <a:prstGeom prst="roundRect">
            <a:avLst>
              <a:gd name="adj" fmla="val 18181"/>
            </a:avLst>
          </a:prstGeom>
          <a:solidFill>
            <a:schemeClr val="accent1">
              <a:lumMod val="40000"/>
              <a:lumOff val="60000"/>
            </a:schemeClr>
          </a:solidFill>
          <a:ln w="13716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b="1" i="0" sz="1050">
                <a:solidFill>
                  <a:srgbClr val="000000"/>
                </a:solidFill>
                <a:latin typeface="+mn-lt"/>
                <a:ea typeface="+mn-ea"/>
              </a:rPr>
              <a:t>LLM</a:t>
            </a:r>
          </a:p>
        </p:txBody>
      </p:sp>
      <p:cxnSp>
        <p:nvCxnSpPr>
          <p:cNvPr id="3" name="arrow 1"/>
          <p:cNvCxnSpPr/>
          <p:nvPr/>
        </p:nvCxnSpPr>
        <p:spPr>
          <a:xfrm>
            <a:off x="1234440" y="845820"/>
            <a:ext cx="1371600" cy="0"/>
          </a:xfrm>
          <a:prstGeom prst="line">
            <a:avLst/>
          </a:prstGeom>
          <a:ln w="13716">
            <a:solidFill>
              <a:srgbClr val="000000"/>
            </a:solidFill>
            <a:prstDash val="dash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ik"/>
          <p:cNvSpPr/>
          <p:nvPr/>
        </p:nvSpPr>
        <p:spPr>
          <a:xfrm>
            <a:off x="2606040" y="594360"/>
            <a:ext cx="731519" cy="502920"/>
          </a:xfrm>
          <a:prstGeom prst="flowChartDocument">
            <a:avLst/>
          </a:prstGeom>
          <a:solidFill>
            <a:schemeClr val="accent2">
              <a:lumMod val="40000"/>
              <a:lumOff val="60000"/>
            </a:schemeClr>
          </a:solidFill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b="1" i="0" sz="1050">
                <a:solidFill>
                  <a:srgbClr val="000000"/>
                </a:solidFill>
                <a:latin typeface="+mn-lt"/>
                <a:ea typeface="+mn-ea"/>
              </a:rPr>
              <a:t>.pik</a:t>
            </a:r>
          </a:p>
        </p:txBody>
      </p:sp>
      <p:cxnSp>
        <p:nvCxnSpPr>
          <p:cNvPr id="5" name="arrow 2"/>
          <p:cNvCxnSpPr/>
          <p:nvPr/>
        </p:nvCxnSpPr>
        <p:spPr>
          <a:xfrm>
            <a:off x="3337560" y="845820"/>
            <a:ext cx="457200" cy="0"/>
          </a:xfrm>
          <a:prstGeom prst="line">
            <a:avLst/>
          </a:prstGeom>
          <a:ln w="27432"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ikslide"/>
          <p:cNvSpPr/>
          <p:nvPr/>
        </p:nvSpPr>
        <p:spPr>
          <a:xfrm>
            <a:off x="3794760" y="594360"/>
            <a:ext cx="1097279" cy="502920"/>
          </a:xfrm>
          <a:prstGeom prst="roundRect">
            <a:avLst>
              <a:gd name="adj" fmla="val 18181"/>
            </a:avLst>
          </a:prstGeom>
          <a:solidFill>
            <a:schemeClr val="accent1"/>
          </a:solidFill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b="1" i="0" sz="1050">
                <a:solidFill>
                  <a:schemeClr val="bg1"/>
                </a:solidFill>
                <a:latin typeface="+mn-lt"/>
                <a:ea typeface="+mn-ea"/>
              </a:rPr>
              <a:t>pikslide</a:t>
            </a:r>
          </a:p>
        </p:txBody>
      </p:sp>
      <p:sp>
        <p:nvSpPr>
          <p:cNvPr id="7" name="Png"/>
          <p:cNvSpPr/>
          <p:nvPr/>
        </p:nvSpPr>
        <p:spPr>
          <a:xfrm>
            <a:off x="5623560" y="137160"/>
            <a:ext cx="731520" cy="502920"/>
          </a:xfrm>
          <a:prstGeom prst="flowChartDocument">
            <a:avLst/>
          </a:prstGeom>
          <a:solidFill>
            <a:schemeClr val="accent2">
              <a:lumMod val="40000"/>
              <a:lumOff val="60000"/>
            </a:schemeClr>
          </a:solidFill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b="1" i="0" sz="1050">
                <a:solidFill>
                  <a:srgbClr val="000000"/>
                </a:solidFill>
                <a:latin typeface="+mn-lt"/>
                <a:ea typeface="+mn-ea"/>
              </a:rPr>
              <a:t>.png</a:t>
            </a:r>
          </a:p>
        </p:txBody>
      </p:sp>
      <p:sp>
        <p:nvSpPr>
          <p:cNvPr id="8" name="Pptx"/>
          <p:cNvSpPr/>
          <p:nvPr/>
        </p:nvSpPr>
        <p:spPr>
          <a:xfrm>
            <a:off x="5623560" y="1051560"/>
            <a:ext cx="731520" cy="502920"/>
          </a:xfrm>
          <a:prstGeom prst="flowChartDocument">
            <a:avLst/>
          </a:prstGeom>
          <a:solidFill>
            <a:schemeClr val="accent2">
              <a:lumMod val="40000"/>
              <a:lumOff val="60000"/>
            </a:schemeClr>
          </a:solidFill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b="1" i="0" sz="1050">
                <a:solidFill>
                  <a:srgbClr val="000000"/>
                </a:solidFill>
                <a:latin typeface="+mn-lt"/>
                <a:ea typeface="+mn-ea"/>
              </a:rPr>
              <a:t>.pptx</a:t>
            </a:r>
          </a:p>
        </p:txBody>
      </p:sp>
      <p:sp>
        <p:nvSpPr>
          <p:cNvPr id="9" name="arrow 3"/>
          <p:cNvSpPr/>
          <p:nvPr/>
        </p:nvSpPr>
        <p:spPr>
          <a:xfrm>
            <a:off x="4892040" y="388620"/>
            <a:ext cx="731520" cy="457200"/>
          </a:xfrm>
          <a:custGeom>
            <a:avLst/>
            <a:gdLst/>
            <a:ahLst/>
            <a:cxnLst/>
            <a:rect l="l" t="t" r="r" b="b"/>
            <a:pathLst>
              <a:path w="731520" h="457200">
                <a:moveTo>
                  <a:pt x="0" y="457200"/>
                </a:moveTo>
                <a:lnTo>
                  <a:pt x="365760" y="457200"/>
                </a:lnTo>
                <a:lnTo>
                  <a:pt x="365760" y="0"/>
                </a:lnTo>
                <a:lnTo>
                  <a:pt x="731520" y="0"/>
                </a:lnTo>
              </a:path>
            </a:pathLst>
          </a:custGeom>
          <a:noFill/>
          <a:ln w="27432">
            <a:solidFill>
              <a:srgbClr val="000000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 1"/>
          <p:cNvSpPr/>
          <p:nvPr/>
        </p:nvSpPr>
        <p:spPr>
          <a:xfrm>
            <a:off x="5227287" y="165735"/>
            <a:ext cx="426784" cy="445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bIns="262890"/>
          <a:lstStyle/>
          <a:p>
            <a:pPr algn="ctr">
              <a:lnSpc>
                <a:spcPct val="100000"/>
              </a:lnSpc>
            </a:pPr>
            <a:r>
              <a:rPr b="0" i="0" sz="900">
                <a:solidFill>
                  <a:srgbClr val="000000"/>
                </a:solidFill>
                <a:latin typeface="+mn-lt"/>
                <a:ea typeface="+mn-ea"/>
              </a:rPr>
              <a:t>--png</a:t>
            </a:r>
          </a:p>
        </p:txBody>
      </p:sp>
      <p:sp>
        <p:nvSpPr>
          <p:cNvPr id="11" name="arrow 4"/>
          <p:cNvSpPr/>
          <p:nvPr/>
        </p:nvSpPr>
        <p:spPr>
          <a:xfrm>
            <a:off x="4892040" y="845820"/>
            <a:ext cx="731520" cy="457199"/>
          </a:xfrm>
          <a:custGeom>
            <a:avLst/>
            <a:gdLst/>
            <a:ahLst/>
            <a:cxnLst/>
            <a:rect l="l" t="t" r="r" b="b"/>
            <a:pathLst>
              <a:path w="731520" h="457199">
                <a:moveTo>
                  <a:pt x="0" y="0"/>
                </a:moveTo>
                <a:lnTo>
                  <a:pt x="365760" y="0"/>
                </a:lnTo>
                <a:lnTo>
                  <a:pt x="365760" y="457199"/>
                </a:lnTo>
                <a:lnTo>
                  <a:pt x="731520" y="457199"/>
                </a:lnTo>
              </a:path>
            </a:pathLst>
          </a:custGeom>
          <a:noFill/>
          <a:ln w="27432">
            <a:solidFill>
              <a:srgbClr val="000000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You"/>
          <p:cNvSpPr/>
          <p:nvPr/>
        </p:nvSpPr>
        <p:spPr>
          <a:xfrm>
            <a:off x="137160" y="2103120"/>
            <a:ext cx="6217919" cy="411480"/>
          </a:xfrm>
          <a:prstGeom prst="rect">
            <a:avLst/>
          </a:prstGeom>
          <a:solidFill>
            <a:schemeClr val="bg1">
              <a:lumMod val="95000"/>
            </a:schemeClr>
          </a:solidFill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b="1" i="0" sz="1050">
                <a:solidFill>
                  <a:srgbClr val="000000"/>
                </a:solidFill>
                <a:latin typeface="+mn-lt"/>
                <a:ea typeface="+mn-ea"/>
              </a:rPr>
              <a:t>You</a:t>
            </a:r>
          </a:p>
        </p:txBody>
      </p:sp>
      <p:cxnSp>
        <p:nvCxnSpPr>
          <p:cNvPr id="13" name="arrow 5"/>
          <p:cNvCxnSpPr/>
          <p:nvPr/>
        </p:nvCxnSpPr>
        <p:spPr>
          <a:xfrm flipV="1">
            <a:off x="685800" y="1097280"/>
            <a:ext cx="0" cy="1005840"/>
          </a:xfrm>
          <a:prstGeom prst="line">
            <a:avLst/>
          </a:prstGeom>
          <a:ln w="13716">
            <a:solidFill>
              <a:srgbClr val="000000"/>
            </a:solidFill>
            <a:prstDash val="dash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arrow 5 text 1"/>
          <p:cNvSpPr txBox="1"/>
          <p:nvPr/>
        </p:nvSpPr>
        <p:spPr>
          <a:xfrm>
            <a:off x="777240" y="1413509"/>
            <a:ext cx="1943149" cy="1600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prompt</a:t>
            </a:r>
          </a:p>
        </p:txBody>
      </p:sp>
      <p:sp>
        <p:nvSpPr>
          <p:cNvPr id="15" name="arrow 5 text 2"/>
          <p:cNvSpPr txBox="1"/>
          <p:nvPr/>
        </p:nvSpPr>
        <p:spPr>
          <a:xfrm>
            <a:off x="777240" y="1520189"/>
            <a:ext cx="1943149" cy="1600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sz="900">
                <a:solidFill>
                  <a:srgbClr val="000000"/>
                </a:solidFill>
                <a:latin typeface="+mn-lt"/>
                <a:ea typeface="+mn-ea"/>
              </a:rPr>
              <a:t>e.g. “draw how Japan's capital moved”</a:t>
            </a:r>
          </a:p>
        </p:txBody>
      </p:sp>
      <p:sp>
        <p:nvSpPr>
          <p:cNvPr id="16" name="arrow 5 text 3"/>
          <p:cNvSpPr txBox="1"/>
          <p:nvPr/>
        </p:nvSpPr>
        <p:spPr>
          <a:xfrm>
            <a:off x="777240" y="1626870"/>
            <a:ext cx="1943149" cy="16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sz="900">
                <a:solidFill>
                  <a:srgbClr val="000000"/>
                </a:solidFill>
                <a:latin typeface="+mn-lt"/>
                <a:ea typeface="+mn-ea"/>
              </a:rPr>
              <a:t>or “apply my edits in the .pptx to the .pik”</a:t>
            </a:r>
          </a:p>
        </p:txBody>
      </p:sp>
      <p:cxnSp>
        <p:nvCxnSpPr>
          <p:cNvPr id="17" name="arrow 6"/>
          <p:cNvCxnSpPr/>
          <p:nvPr/>
        </p:nvCxnSpPr>
        <p:spPr>
          <a:xfrm flipV="1">
            <a:off x="2971800" y="1063752"/>
            <a:ext cx="0" cy="1039368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arrow 6 text 1"/>
          <p:cNvSpPr txBox="1"/>
          <p:nvPr/>
        </p:nvSpPr>
        <p:spPr>
          <a:xfrm>
            <a:off x="3063240" y="1503426"/>
            <a:ext cx="1034429" cy="1600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edit in a text editor</a:t>
            </a:r>
          </a:p>
        </p:txBody>
      </p:sp>
      <p:cxnSp>
        <p:nvCxnSpPr>
          <p:cNvPr id="19" name="arrow 7"/>
          <p:cNvCxnSpPr/>
          <p:nvPr/>
        </p:nvCxnSpPr>
        <p:spPr>
          <a:xfrm flipV="1">
            <a:off x="5989320" y="1520952"/>
            <a:ext cx="0" cy="582168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arrow 7 text 1"/>
          <p:cNvSpPr txBox="1"/>
          <p:nvPr/>
        </p:nvSpPr>
        <p:spPr>
          <a:xfrm>
            <a:off x="4901574" y="1732026"/>
            <a:ext cx="996305" cy="16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edit in PowerPoint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