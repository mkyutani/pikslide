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835505" cy="2082641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mpany"/>
          <p:cNvSpPr/>
          <p:nvPr/>
        </p:nvSpPr>
        <p:spPr>
          <a:xfrm>
            <a:off x="1436935" y="137160"/>
            <a:ext cx="4134043" cy="1808321"/>
          </a:xfrm>
          <a:prstGeom prst="rect">
            <a:avLst/>
          </a:prstGeom>
          <a:solidFill>
            <a:srgbClr val="F5F5F5"/>
          </a:solidFill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upplier"/>
          <p:cNvSpPr/>
          <p:nvPr/>
        </p:nvSpPr>
        <p:spPr>
          <a:xfrm>
            <a:off x="137160" y="419108"/>
            <a:ext cx="888722" cy="330024"/>
          </a:xfrm>
          <a:prstGeom prst="ellipse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Supplier</a:t>
            </a:r>
          </a:p>
        </p:txBody>
      </p:sp>
      <p:cxnSp>
        <p:nvCxnSpPr>
          <p:cNvPr id="4" name="arrow 1"/>
          <p:cNvCxnSpPr/>
          <p:nvPr/>
        </p:nvCxnSpPr>
        <p:spPr>
          <a:xfrm>
            <a:off x="1025882" y="584120"/>
            <a:ext cx="685373" cy="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arrow 1 text 1"/>
          <p:cNvSpPr txBox="1"/>
          <p:nvPr/>
        </p:nvSpPr>
        <p:spPr>
          <a:xfrm>
            <a:off x="1117322" y="400764"/>
            <a:ext cx="502493" cy="153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materials</a:t>
            </a:r>
          </a:p>
        </p:txBody>
      </p:sp>
      <p:sp>
        <p:nvSpPr>
          <p:cNvPr id="6" name="arrow 1 text 2"/>
          <p:cNvSpPr txBox="1"/>
          <p:nvPr/>
        </p:nvSpPr>
        <p:spPr>
          <a:xfrm>
            <a:off x="1117322" y="614124"/>
            <a:ext cx="502493" cy="153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/>
            </a:r>
          </a:p>
        </p:txBody>
      </p:sp>
      <p:sp>
        <p:nvSpPr>
          <p:cNvPr id="7" name="Procurement"/>
          <p:cNvSpPr/>
          <p:nvPr/>
        </p:nvSpPr>
        <p:spPr>
          <a:xfrm>
            <a:off x="1711255" y="467439"/>
            <a:ext cx="890334" cy="233362"/>
          </a:xfrm>
          <a:prstGeom prst="rect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Procurement</a:t>
            </a:r>
          </a:p>
        </p:txBody>
      </p:sp>
      <p:cxnSp>
        <p:nvCxnSpPr>
          <p:cNvPr id="8" name="arrow 2"/>
          <p:cNvCxnSpPr/>
          <p:nvPr/>
        </p:nvCxnSpPr>
        <p:spPr>
          <a:xfrm>
            <a:off x="2601590" y="584120"/>
            <a:ext cx="457200" cy="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roduction"/>
          <p:cNvSpPr/>
          <p:nvPr/>
        </p:nvSpPr>
        <p:spPr>
          <a:xfrm>
            <a:off x="3058790" y="467439"/>
            <a:ext cx="890334" cy="233362"/>
          </a:xfrm>
          <a:prstGeom prst="rect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Production</a:t>
            </a:r>
          </a:p>
        </p:txBody>
      </p:sp>
      <p:cxnSp>
        <p:nvCxnSpPr>
          <p:cNvPr id="10" name="arrow 3"/>
          <p:cNvCxnSpPr/>
          <p:nvPr/>
        </p:nvCxnSpPr>
        <p:spPr>
          <a:xfrm>
            <a:off x="3949124" y="584120"/>
            <a:ext cx="457200" cy="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Warehouse"/>
          <p:cNvSpPr/>
          <p:nvPr/>
        </p:nvSpPr>
        <p:spPr>
          <a:xfrm>
            <a:off x="4406324" y="467439"/>
            <a:ext cx="890334" cy="233362"/>
          </a:xfrm>
          <a:prstGeom prst="rect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Warehouse</a:t>
            </a:r>
          </a:p>
        </p:txBody>
      </p:sp>
      <p:cxnSp>
        <p:nvCxnSpPr>
          <p:cNvPr id="12" name="arrow 4"/>
          <p:cNvCxnSpPr/>
          <p:nvPr/>
        </p:nvCxnSpPr>
        <p:spPr>
          <a:xfrm>
            <a:off x="5296659" y="584120"/>
            <a:ext cx="660966" cy="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arrow 4 text 1"/>
          <p:cNvSpPr txBox="1"/>
          <p:nvPr/>
        </p:nvSpPr>
        <p:spPr>
          <a:xfrm>
            <a:off x="5388099" y="400764"/>
            <a:ext cx="478085" cy="153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products</a:t>
            </a:r>
          </a:p>
        </p:txBody>
      </p:sp>
      <p:sp>
        <p:nvSpPr>
          <p:cNvPr id="14" name="arrow 4 text 2"/>
          <p:cNvSpPr txBox="1"/>
          <p:nvPr/>
        </p:nvSpPr>
        <p:spPr>
          <a:xfrm>
            <a:off x="5388099" y="614124"/>
            <a:ext cx="478085" cy="153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/>
            </a:r>
          </a:p>
        </p:txBody>
      </p:sp>
      <p:sp>
        <p:nvSpPr>
          <p:cNvPr id="15" name="Distributor"/>
          <p:cNvSpPr/>
          <p:nvPr/>
        </p:nvSpPr>
        <p:spPr>
          <a:xfrm>
            <a:off x="5957625" y="419108"/>
            <a:ext cx="1086568" cy="330024"/>
          </a:xfrm>
          <a:prstGeom prst="ellipse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Distributor</a:t>
            </a:r>
          </a:p>
        </p:txBody>
      </p:sp>
      <p:cxnSp>
        <p:nvCxnSpPr>
          <p:cNvPr id="16" name="arrow 5"/>
          <p:cNvCxnSpPr/>
          <p:nvPr/>
        </p:nvCxnSpPr>
        <p:spPr>
          <a:xfrm>
            <a:off x="7044193" y="584120"/>
            <a:ext cx="613291" cy="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arrow 5 text 1"/>
          <p:cNvSpPr txBox="1"/>
          <p:nvPr/>
        </p:nvSpPr>
        <p:spPr>
          <a:xfrm>
            <a:off x="7135633" y="400764"/>
            <a:ext cx="430410" cy="153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delivery</a:t>
            </a:r>
          </a:p>
        </p:txBody>
      </p:sp>
      <p:sp>
        <p:nvSpPr>
          <p:cNvPr id="18" name="arrow 5 text 2"/>
          <p:cNvSpPr txBox="1"/>
          <p:nvPr/>
        </p:nvSpPr>
        <p:spPr>
          <a:xfrm>
            <a:off x="7135633" y="614124"/>
            <a:ext cx="430410" cy="153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/>
            </a:r>
          </a:p>
        </p:txBody>
      </p:sp>
      <p:sp>
        <p:nvSpPr>
          <p:cNvPr id="19" name="Consumer"/>
          <p:cNvSpPr/>
          <p:nvPr/>
        </p:nvSpPr>
        <p:spPr>
          <a:xfrm>
            <a:off x="7657484" y="419108"/>
            <a:ext cx="1040860" cy="330024"/>
          </a:xfrm>
          <a:prstGeom prst="ellipse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Consumer</a:t>
            </a:r>
          </a:p>
        </p:txBody>
      </p:sp>
      <p:sp>
        <p:nvSpPr>
          <p:cNvPr id="20" name="Finance"/>
          <p:cNvSpPr/>
          <p:nvPr/>
        </p:nvSpPr>
        <p:spPr>
          <a:xfrm>
            <a:off x="1711255" y="1269920"/>
            <a:ext cx="3585403" cy="457200"/>
          </a:xfrm>
          <a:prstGeom prst="rect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Finance</a:t>
            </a:r>
          </a:p>
        </p:txBody>
      </p:sp>
      <p:cxnSp>
        <p:nvCxnSpPr>
          <p:cNvPr id="21" name="arrow 6"/>
          <p:cNvCxnSpPr/>
          <p:nvPr/>
        </p:nvCxnSpPr>
        <p:spPr>
          <a:xfrm flipV="1">
            <a:off x="2156423" y="700801"/>
            <a:ext cx="0" cy="569119"/>
          </a:xfrm>
          <a:prstGeom prst="line">
            <a:avLst/>
          </a:prstGeom>
          <a:ln w="13716">
            <a:solidFill>
              <a:srgbClr val="000000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arrow 7"/>
          <p:cNvCxnSpPr/>
          <p:nvPr/>
        </p:nvCxnSpPr>
        <p:spPr>
          <a:xfrm flipV="1">
            <a:off x="3503957" y="700801"/>
            <a:ext cx="0" cy="569119"/>
          </a:xfrm>
          <a:prstGeom prst="line">
            <a:avLst/>
          </a:prstGeom>
          <a:ln w="13716">
            <a:solidFill>
              <a:srgbClr val="000000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arrow 8"/>
          <p:cNvCxnSpPr/>
          <p:nvPr/>
        </p:nvCxnSpPr>
        <p:spPr>
          <a:xfrm flipV="1">
            <a:off x="4851492" y="700801"/>
            <a:ext cx="0" cy="569119"/>
          </a:xfrm>
          <a:prstGeom prst="line">
            <a:avLst/>
          </a:prstGeom>
          <a:ln w="13716">
            <a:solidFill>
              <a:srgbClr val="000000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 1"/>
          <p:cNvSpPr/>
          <p:nvPr/>
        </p:nvSpPr>
        <p:spPr>
          <a:xfrm>
            <a:off x="3152291" y="175926"/>
            <a:ext cx="703331" cy="2333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b="1" i="0" sz="1050">
                <a:solidFill>
                  <a:srgbClr val="000000"/>
                </a:solidFill>
                <a:latin typeface="+mn-lt"/>
                <a:ea typeface="+mn-ea"/>
              </a:rPr>
              <a:t>Company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