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002781" cy="2082641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mpany"/>
          <p:cNvSpPr/>
          <p:nvPr/>
        </p:nvSpPr>
        <p:spPr>
          <a:xfrm>
            <a:off x="1316424" y="137160"/>
            <a:ext cx="3762732" cy="1808321"/>
          </a:xfrm>
          <a:prstGeom prst="rect">
            <a:avLst/>
          </a:prstGeom>
          <a:solidFill>
            <a:srgbClr val="F5F5F5"/>
          </a:solidFill>
          <a:ln w="13716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upplier"/>
          <p:cNvSpPr/>
          <p:nvPr/>
        </p:nvSpPr>
        <p:spPr>
          <a:xfrm>
            <a:off x="137160" y="419108"/>
            <a:ext cx="802610" cy="330024"/>
          </a:xfrm>
          <a:prstGeom prst="ellipse">
            <a:avLst/>
          </a:prstGeom>
          <a:noFill/>
          <a:ln w="13716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Supplier</a:t>
            </a:r>
          </a:p>
        </p:txBody>
      </p:sp>
      <p:cxnSp>
        <p:nvCxnSpPr>
          <p:cNvPr id="4" name="arrow 1"/>
          <p:cNvCxnSpPr/>
          <p:nvPr/>
        </p:nvCxnSpPr>
        <p:spPr>
          <a:xfrm>
            <a:off x="939770" y="584120"/>
            <a:ext cx="621308" cy="0"/>
          </a:xfrm>
          <a:prstGeom prst="line">
            <a:avLst/>
          </a:prstGeom>
          <a:ln w="13716">
            <a:solidFill>
              <a:srgbClr val="00000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arrow 1 text 1"/>
          <p:cNvSpPr txBox="1"/>
          <p:nvPr/>
        </p:nvSpPr>
        <p:spPr>
          <a:xfrm>
            <a:off x="830371" y="400764"/>
            <a:ext cx="840105" cy="153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materials</a:t>
            </a:r>
          </a:p>
        </p:txBody>
      </p:sp>
      <p:sp>
        <p:nvSpPr>
          <p:cNvPr id="6" name="arrow 1 text 2"/>
          <p:cNvSpPr txBox="1"/>
          <p:nvPr/>
        </p:nvSpPr>
        <p:spPr>
          <a:xfrm>
            <a:off x="1113264" y="614124"/>
            <a:ext cx="274320" cy="153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/>
            </a:r>
          </a:p>
        </p:txBody>
      </p:sp>
      <p:sp>
        <p:nvSpPr>
          <p:cNvPr id="7" name="Procurement"/>
          <p:cNvSpPr/>
          <p:nvPr/>
        </p:nvSpPr>
        <p:spPr>
          <a:xfrm>
            <a:off x="1561078" y="467439"/>
            <a:ext cx="845145" cy="233362"/>
          </a:xfrm>
          <a:prstGeom prst="rect">
            <a:avLst/>
          </a:prstGeom>
          <a:noFill/>
          <a:ln w="13716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Procurement</a:t>
            </a:r>
          </a:p>
        </p:txBody>
      </p:sp>
      <p:cxnSp>
        <p:nvCxnSpPr>
          <p:cNvPr id="8" name="arrow 2"/>
          <p:cNvCxnSpPr/>
          <p:nvPr/>
        </p:nvCxnSpPr>
        <p:spPr>
          <a:xfrm>
            <a:off x="2406223" y="584120"/>
            <a:ext cx="457200" cy="0"/>
          </a:xfrm>
          <a:prstGeom prst="line">
            <a:avLst/>
          </a:prstGeom>
          <a:ln w="13716">
            <a:solidFill>
              <a:srgbClr val="00000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roduction"/>
          <p:cNvSpPr/>
          <p:nvPr/>
        </p:nvSpPr>
        <p:spPr>
          <a:xfrm>
            <a:off x="2863423" y="467439"/>
            <a:ext cx="728067" cy="233362"/>
          </a:xfrm>
          <a:prstGeom prst="rect">
            <a:avLst/>
          </a:prstGeom>
          <a:noFill/>
          <a:ln w="13716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Production</a:t>
            </a:r>
          </a:p>
        </p:txBody>
      </p:sp>
      <p:cxnSp>
        <p:nvCxnSpPr>
          <p:cNvPr id="10" name="arrow 3"/>
          <p:cNvCxnSpPr/>
          <p:nvPr/>
        </p:nvCxnSpPr>
        <p:spPr>
          <a:xfrm>
            <a:off x="3591490" y="584120"/>
            <a:ext cx="457200" cy="0"/>
          </a:xfrm>
          <a:prstGeom prst="line">
            <a:avLst/>
          </a:prstGeom>
          <a:ln w="13716">
            <a:solidFill>
              <a:srgbClr val="00000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Warehouse"/>
          <p:cNvSpPr/>
          <p:nvPr/>
        </p:nvSpPr>
        <p:spPr>
          <a:xfrm>
            <a:off x="4048690" y="467439"/>
            <a:ext cx="726479" cy="233362"/>
          </a:xfrm>
          <a:prstGeom prst="rect">
            <a:avLst/>
          </a:prstGeom>
          <a:noFill/>
          <a:ln w="13716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Warehouse</a:t>
            </a:r>
          </a:p>
        </p:txBody>
      </p:sp>
      <p:cxnSp>
        <p:nvCxnSpPr>
          <p:cNvPr id="12" name="arrow 4"/>
          <p:cNvCxnSpPr/>
          <p:nvPr/>
        </p:nvCxnSpPr>
        <p:spPr>
          <a:xfrm>
            <a:off x="4775170" y="584120"/>
            <a:ext cx="595312" cy="0"/>
          </a:xfrm>
          <a:prstGeom prst="line">
            <a:avLst/>
          </a:prstGeom>
          <a:ln w="13716">
            <a:solidFill>
              <a:srgbClr val="00000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arrow 4 text 1"/>
          <p:cNvSpPr txBox="1"/>
          <p:nvPr/>
        </p:nvSpPr>
        <p:spPr>
          <a:xfrm>
            <a:off x="4699446" y="400764"/>
            <a:ext cx="746759" cy="153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products</a:t>
            </a:r>
          </a:p>
        </p:txBody>
      </p:sp>
      <p:sp>
        <p:nvSpPr>
          <p:cNvPr id="14" name="arrow 4 text 2"/>
          <p:cNvSpPr txBox="1"/>
          <p:nvPr/>
        </p:nvSpPr>
        <p:spPr>
          <a:xfrm>
            <a:off x="4935666" y="614124"/>
            <a:ext cx="274320" cy="153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/>
            </a:r>
          </a:p>
        </p:txBody>
      </p:sp>
      <p:sp>
        <p:nvSpPr>
          <p:cNvPr id="15" name="Distributor"/>
          <p:cNvSpPr/>
          <p:nvPr/>
        </p:nvSpPr>
        <p:spPr>
          <a:xfrm>
            <a:off x="5370482" y="419108"/>
            <a:ext cx="997369" cy="330024"/>
          </a:xfrm>
          <a:prstGeom prst="ellipse">
            <a:avLst/>
          </a:prstGeom>
          <a:noFill/>
          <a:ln w="13716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Distributor</a:t>
            </a:r>
          </a:p>
        </p:txBody>
      </p:sp>
      <p:cxnSp>
        <p:nvCxnSpPr>
          <p:cNvPr id="16" name="arrow 5"/>
          <p:cNvCxnSpPr/>
          <p:nvPr/>
        </p:nvCxnSpPr>
        <p:spPr>
          <a:xfrm>
            <a:off x="6367852" y="584120"/>
            <a:ext cx="541933" cy="0"/>
          </a:xfrm>
          <a:prstGeom prst="line">
            <a:avLst/>
          </a:prstGeom>
          <a:ln w="13716">
            <a:solidFill>
              <a:srgbClr val="00000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arrow 5 text 1"/>
          <p:cNvSpPr txBox="1"/>
          <p:nvPr/>
        </p:nvSpPr>
        <p:spPr>
          <a:xfrm>
            <a:off x="6265438" y="400764"/>
            <a:ext cx="746759" cy="153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delivery</a:t>
            </a:r>
          </a:p>
        </p:txBody>
      </p:sp>
      <p:sp>
        <p:nvSpPr>
          <p:cNvPr id="18" name="arrow 5 text 2"/>
          <p:cNvSpPr txBox="1"/>
          <p:nvPr/>
        </p:nvSpPr>
        <p:spPr>
          <a:xfrm>
            <a:off x="6501658" y="614124"/>
            <a:ext cx="274320" cy="153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/>
            </a:r>
          </a:p>
        </p:txBody>
      </p:sp>
      <p:sp>
        <p:nvSpPr>
          <p:cNvPr id="19" name="Consumer"/>
          <p:cNvSpPr/>
          <p:nvPr/>
        </p:nvSpPr>
        <p:spPr>
          <a:xfrm>
            <a:off x="6909785" y="419108"/>
            <a:ext cx="955836" cy="330024"/>
          </a:xfrm>
          <a:prstGeom prst="ellipse">
            <a:avLst/>
          </a:prstGeom>
          <a:noFill/>
          <a:ln w="13716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Consumer</a:t>
            </a:r>
          </a:p>
        </p:txBody>
      </p:sp>
      <p:sp>
        <p:nvSpPr>
          <p:cNvPr id="20" name="Finance"/>
          <p:cNvSpPr/>
          <p:nvPr/>
        </p:nvSpPr>
        <p:spPr>
          <a:xfrm>
            <a:off x="1590744" y="1269920"/>
            <a:ext cx="3214092" cy="457200"/>
          </a:xfrm>
          <a:prstGeom prst="rect">
            <a:avLst/>
          </a:prstGeom>
          <a:noFill/>
          <a:ln w="13716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Finance</a:t>
            </a:r>
          </a:p>
        </p:txBody>
      </p:sp>
      <p:cxnSp>
        <p:nvCxnSpPr>
          <p:cNvPr id="21" name="arrow 6"/>
          <p:cNvCxnSpPr/>
          <p:nvPr/>
        </p:nvCxnSpPr>
        <p:spPr>
          <a:xfrm flipH="1" flipV="1">
            <a:off x="1983650" y="700801"/>
            <a:ext cx="1214140" cy="569119"/>
          </a:xfrm>
          <a:prstGeom prst="line">
            <a:avLst/>
          </a:prstGeom>
          <a:ln w="13716">
            <a:solidFill>
              <a:srgbClr val="0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arrow 7"/>
          <p:cNvCxnSpPr/>
          <p:nvPr/>
        </p:nvCxnSpPr>
        <p:spPr>
          <a:xfrm flipV="1">
            <a:off x="3197790" y="700801"/>
            <a:ext cx="29667" cy="569119"/>
          </a:xfrm>
          <a:prstGeom prst="line">
            <a:avLst/>
          </a:prstGeom>
          <a:ln w="13716">
            <a:solidFill>
              <a:srgbClr val="0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arrow 8"/>
          <p:cNvCxnSpPr/>
          <p:nvPr/>
        </p:nvCxnSpPr>
        <p:spPr>
          <a:xfrm flipV="1">
            <a:off x="3197790" y="700801"/>
            <a:ext cx="850900" cy="569119"/>
          </a:xfrm>
          <a:prstGeom prst="line">
            <a:avLst/>
          </a:prstGeom>
          <a:ln w="13716">
            <a:solidFill>
              <a:srgbClr val="0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 1"/>
          <p:cNvSpPr/>
          <p:nvPr/>
        </p:nvSpPr>
        <p:spPr>
          <a:xfrm>
            <a:off x="2880786" y="175926"/>
            <a:ext cx="634007" cy="23336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b="1" i="0" sz="1050">
                <a:solidFill>
                  <a:srgbClr val="000000"/>
                </a:solidFill>
                <a:latin typeface="+mn-lt"/>
                <a:ea typeface="+mn-ea"/>
              </a:rPr>
              <a:t>Company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